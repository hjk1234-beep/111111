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8" r:id="rId3"/>
    <p:sldId id="259" r:id="rId4"/>
    <p:sldId id="260" r:id="rId5"/>
    <p:sldId id="261" r:id="rId6"/>
    <p:sldId id="269" r:id="rId7"/>
    <p:sldId id="25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72" autoAdjust="0"/>
    <p:restoredTop sz="94660"/>
  </p:normalViewPr>
  <p:slideViewPr>
    <p:cSldViewPr snapToGrid="0">
      <p:cViewPr>
        <p:scale>
          <a:sx n="60" d="100"/>
          <a:sy n="60" d="100"/>
        </p:scale>
        <p:origin x="536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7BDD8-1760-1A72-3CE1-1FD16C429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DD01D3-1497-32FE-C49B-5323C95C2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57630-F39F-AA8E-214A-D899C646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EBF254-E153-5157-B8CE-A3E556C8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1F24F-FCA9-9B08-D1CD-6D8616C2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3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73679-5F51-C450-2886-117EC2F4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0BF0A-ED0E-4E7F-B787-AD362AA5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993AB-66F8-F904-5213-FDD58410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FFF430-F77E-700F-A7AC-DF82889D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C22460-DBAC-1157-B669-3CAEEF95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1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E34A8-9662-EBE3-2A8D-ED75FAD4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A3B486-46FC-16FF-5DC4-68877B889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775D3-6D1F-18DA-3C22-4046496A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AE20E-2186-2F48-430F-8C3A25CA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9F22D-8199-9241-9310-C6A19D20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76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6402-BE5E-EF01-5524-56886AE7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06DBF-CF28-1E7C-5623-6257BB882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0C787-87E5-9C6F-63DD-5B3F123A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812DB3-B908-FEC3-DDA9-C1473C5A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737795-D755-DA2A-43DF-CD6B3DF1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2AD024-B055-C009-B5BE-43FA1638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F02C2-1E9B-3A98-2BAC-84600D81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718641-9668-2176-0C77-91EFC45D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0E0252-EBF1-FFA2-AE29-08AC57ED5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A14F01-8453-CCED-17BD-728CA4DB6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5490C-A4DA-DA87-45E9-D8EAD4080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A6BB74-84AA-EACD-F5BF-634369FF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BF6CAE-03CF-0C1A-1848-AA754C02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E81760-3A50-5904-652F-AB07019C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08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89954-FE48-6B35-E083-473B7957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E184E0-D78F-16E1-C907-3C80DA17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9F9C61-1E92-13B3-FB68-0A22E84E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DB887E-8768-1195-5D9F-2F0C6000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3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D3AEC5-EFC6-824B-68A2-8D92B610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ABFADD-3D1F-F20C-1717-A3276B52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34241-8664-30CB-FC73-60B08738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7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F63EB-913E-D692-2A04-C17A1339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25034-4508-403C-6811-62AB9BAD5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5FCDF-EB75-7652-1B98-7EDF5A4A2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6767C-A6D1-2D38-53FF-449BD0BC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2C7680-A5E5-AC21-DEA4-11B73DCC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361216-1D0F-12C5-FB42-C4434E67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6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BFA4D-47A4-351B-E167-45CCE67A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F0AA73-97A4-FCB8-7186-CDB9E6333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7A0444-F4F9-8D18-D453-3B5C999BD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8BCE2E-1324-BEF2-4849-84C9AB02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708DF9-3379-1A16-FC61-04BB95EC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E2BD22-F0E5-6672-CAB9-E6C0D9CB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63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60AAA-BA11-D7F1-B87A-ED150634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05423D-EE23-0EBD-8194-ABBA82CD4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A599A-B4CB-F926-B183-E26FDD65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DC438-0836-D154-17EB-3FFE4F71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32E1C-BE98-8B59-424D-578C5B1B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0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8606E5-0948-EA1D-7678-BE8CF1746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8D814D-8748-034A-1629-3ADD57BC7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715A-6872-4027-3266-ED2CB595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3F85F-292F-94B9-9DEC-02FABB21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812BA-1B9C-49C6-E488-17ACBB36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35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39E4C0-8784-EA17-AEE0-8BBC27DA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C4AC51-0E08-6699-B876-922DE82D6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4381E-2E57-A12D-374F-38BCC7347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75D72-BF30-4F8C-ABCB-918A357B81A2}" type="datetimeFigureOut">
              <a:rPr lang="ko-KR" altLang="en-US" smtClean="0"/>
              <a:t>2026. 10. 20.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3882F-3E17-BD10-3CC1-0C4228477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AFF5A-37DC-34F1-CF32-9A863C70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 3"/>
          <p:cNvSpPr txBox="1"/>
          <p:nvPr/>
        </p:nvSpPr>
        <p:spPr>
          <a:xfrm>
            <a:off x="609600" y="457200"/>
            <a:ext cx="10972800" cy="660400"/>
          </a:xfrm>
          <a:prstGeom prst="rect">
            <a:avLst/>
          </a:prstGeom>
          <a:noFill/>
        </p:spPr>
        <p:txBody>
          <a:bodyPr wrap="square" lIns="88900" tIns="0" rIns="88900" bIns="0" anchor="b">
            <a:noAutofit/>
          </a:bodyPr>
          <a:lstStyle/>
          <a:p>
            <a:pPr algn="l"/>
            <a:r>
              <a:rPr lang="ko-KR" altLang="en-US" sz="3400" b="1" dirty="0">
                <a:solidFill>
                  <a:srgbClr val="1A1A1A"/>
                </a:solidFill>
              </a:rPr>
              <a:t>목차</a:t>
            </a:r>
          </a:p>
        </p:txBody>
      </p:sp>
      <p:sp>
        <p:nvSpPr>
          <p:cNvPr id="3" name="TOC 4"/>
          <p:cNvSpPr txBox="1"/>
          <p:nvPr/>
        </p:nvSpPr>
        <p:spPr>
          <a:xfrm>
            <a:off x="609600" y="1168400"/>
            <a:ext cx="10972800" cy="355600"/>
          </a:xfrm>
          <a:prstGeom prst="rect">
            <a:avLst/>
          </a:prstGeom>
          <a:noFill/>
        </p:spPr>
        <p:txBody>
          <a:bodyPr wrap="square" lIns="88900" tIns="0" rIns="88900" bIns="0" anchor="t">
            <a:noAutofit/>
          </a:bodyPr>
          <a:lstStyle/>
          <a:p>
            <a:pPr algn="l"/>
            <a:r>
              <a:rPr lang="ko-KR" altLang="en-US" sz="1600" dirty="0">
                <a:solidFill>
                  <a:srgbClr val="595959"/>
                </a:solidFill>
              </a:rPr>
              <a:t>「AI이체」 서비스 법률 검토 요청 붙임 설명 자료</a:t>
            </a:r>
          </a:p>
        </p:txBody>
      </p:sp>
      <p:cxnSp>
        <p:nvCxnSpPr>
          <p:cNvPr id="4" name="TOC line 5"/>
          <p:cNvCxnSpPr/>
          <p:nvPr/>
        </p:nvCxnSpPr>
        <p:spPr>
          <a:xfrm>
            <a:off x="609600" y="18542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" name="TOC 6"/>
          <p:cNvSpPr txBox="1"/>
          <p:nvPr/>
        </p:nvSpPr>
        <p:spPr>
          <a:xfrm>
            <a:off x="609600" y="1854200"/>
            <a:ext cx="1016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156082"/>
                </a:solidFill>
              </a:rPr>
              <a:t>01</a:t>
            </a:r>
          </a:p>
        </p:txBody>
      </p:sp>
      <p:sp>
        <p:nvSpPr>
          <p:cNvPr id="6" name="TOC 7"/>
          <p:cNvSpPr txBox="1"/>
          <p:nvPr/>
        </p:nvSpPr>
        <p:spPr>
          <a:xfrm>
            <a:off x="1727200" y="1854200"/>
            <a:ext cx="8128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200" dirty="0">
                <a:solidFill>
                  <a:srgbClr val="1A1A1A"/>
                </a:solidFill>
              </a:rPr>
              <a:t>모바일 뱅킹 가입 시 필수로 받는 서류</a:t>
            </a:r>
          </a:p>
        </p:txBody>
      </p:sp>
      <p:sp>
        <p:nvSpPr>
          <p:cNvPr id="7" name="TOC 8"/>
          <p:cNvSpPr txBox="1"/>
          <p:nvPr/>
        </p:nvSpPr>
        <p:spPr>
          <a:xfrm>
            <a:off x="10058400" y="1854200"/>
            <a:ext cx="1524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r"/>
            <a:r>
              <a:rPr lang="ko-KR" altLang="en-US" sz="1800" dirty="0">
                <a:solidFill>
                  <a:srgbClr val="595959"/>
                </a:solidFill>
              </a:rPr>
              <a:t>p.2</a:t>
            </a:r>
          </a:p>
        </p:txBody>
      </p:sp>
      <p:cxnSp>
        <p:nvCxnSpPr>
          <p:cNvPr id="8" name="TOC line 9"/>
          <p:cNvCxnSpPr/>
          <p:nvPr/>
        </p:nvCxnSpPr>
        <p:spPr>
          <a:xfrm>
            <a:off x="609600" y="27686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" name="TOC 10"/>
          <p:cNvSpPr txBox="1"/>
          <p:nvPr/>
        </p:nvSpPr>
        <p:spPr>
          <a:xfrm>
            <a:off x="609600" y="2768600"/>
            <a:ext cx="1016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TOC 11"/>
          <p:cNvSpPr txBox="1"/>
          <p:nvPr/>
        </p:nvSpPr>
        <p:spPr>
          <a:xfrm>
            <a:off x="1727200" y="2768600"/>
            <a:ext cx="8128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200" dirty="0">
                <a:solidFill>
                  <a:srgbClr val="1A1A1A"/>
                </a:solidFill>
              </a:rPr>
              <a:t>개인(신용)정보 필수적 전체 동의서 발췌</a:t>
            </a:r>
          </a:p>
        </p:txBody>
      </p:sp>
      <p:sp>
        <p:nvSpPr>
          <p:cNvPr id="11" name="TOC 12"/>
          <p:cNvSpPr txBox="1"/>
          <p:nvPr/>
        </p:nvSpPr>
        <p:spPr>
          <a:xfrm>
            <a:off x="10058400" y="2768600"/>
            <a:ext cx="1524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r"/>
            <a:r>
              <a:rPr lang="ko-KR" altLang="en-US" sz="1800" dirty="0">
                <a:solidFill>
                  <a:srgbClr val="595959"/>
                </a:solidFill>
              </a:rPr>
              <a:t>p.3–4</a:t>
            </a:r>
          </a:p>
        </p:txBody>
      </p:sp>
      <p:cxnSp>
        <p:nvCxnSpPr>
          <p:cNvPr id="12" name="TOC line 13"/>
          <p:cNvCxnSpPr/>
          <p:nvPr/>
        </p:nvCxnSpPr>
        <p:spPr>
          <a:xfrm>
            <a:off x="609600" y="36830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3" name="TOC 14"/>
          <p:cNvSpPr txBox="1"/>
          <p:nvPr/>
        </p:nvSpPr>
        <p:spPr>
          <a:xfrm>
            <a:off x="609600" y="3683000"/>
            <a:ext cx="1016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156082"/>
                </a:solidFill>
              </a:rPr>
              <a:t>03</a:t>
            </a:r>
          </a:p>
        </p:txBody>
      </p:sp>
      <p:sp>
        <p:nvSpPr>
          <p:cNvPr id="14" name="TOC 15"/>
          <p:cNvSpPr txBox="1"/>
          <p:nvPr/>
        </p:nvSpPr>
        <p:spPr>
          <a:xfrm>
            <a:off x="1727200" y="3683000"/>
            <a:ext cx="8128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200" dirty="0">
                <a:solidFill>
                  <a:srgbClr val="1A1A1A"/>
                </a:solidFill>
              </a:rPr>
              <a:t>iM ZERO AI 기본 서비스 이용 약관 발췌</a:t>
            </a:r>
          </a:p>
        </p:txBody>
      </p:sp>
      <p:sp>
        <p:nvSpPr>
          <p:cNvPr id="15" name="TOC 16"/>
          <p:cNvSpPr txBox="1"/>
          <p:nvPr/>
        </p:nvSpPr>
        <p:spPr>
          <a:xfrm>
            <a:off x="10058400" y="3683000"/>
            <a:ext cx="1524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r"/>
            <a:r>
              <a:rPr lang="ko-KR" altLang="en-US" sz="1800" dirty="0">
                <a:solidFill>
                  <a:srgbClr val="595959"/>
                </a:solidFill>
              </a:rPr>
              <a:t>p.5</a:t>
            </a:r>
          </a:p>
        </p:txBody>
      </p:sp>
      <p:cxnSp>
        <p:nvCxnSpPr>
          <p:cNvPr id="16" name="TOC line 17"/>
          <p:cNvCxnSpPr/>
          <p:nvPr/>
        </p:nvCxnSpPr>
        <p:spPr>
          <a:xfrm>
            <a:off x="609600" y="45974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7" name="TOC 18"/>
          <p:cNvSpPr txBox="1"/>
          <p:nvPr/>
        </p:nvSpPr>
        <p:spPr>
          <a:xfrm>
            <a:off x="609600" y="4597400"/>
            <a:ext cx="1016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156082"/>
                </a:solidFill>
              </a:rPr>
              <a:t>04</a:t>
            </a:r>
          </a:p>
        </p:txBody>
      </p:sp>
      <p:sp>
        <p:nvSpPr>
          <p:cNvPr id="18" name="TOC 19"/>
          <p:cNvSpPr txBox="1"/>
          <p:nvPr/>
        </p:nvSpPr>
        <p:spPr>
          <a:xfrm>
            <a:off x="1727200" y="4597400"/>
            <a:ext cx="8128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200" dirty="0">
                <a:solidFill>
                  <a:srgbClr val="1A1A1A"/>
                </a:solidFill>
              </a:rPr>
              <a:t>AI 이체 운영 시나리오 (3개)</a:t>
            </a:r>
          </a:p>
        </p:txBody>
      </p:sp>
      <p:sp>
        <p:nvSpPr>
          <p:cNvPr id="19" name="TOC 20"/>
          <p:cNvSpPr txBox="1"/>
          <p:nvPr/>
        </p:nvSpPr>
        <p:spPr>
          <a:xfrm>
            <a:off x="10058400" y="4597400"/>
            <a:ext cx="1524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r"/>
            <a:r>
              <a:rPr lang="ko-KR" altLang="en-US" sz="1800" dirty="0">
                <a:solidFill>
                  <a:srgbClr val="595959"/>
                </a:solidFill>
              </a:rPr>
              <a:t>p.6</a:t>
            </a:r>
          </a:p>
        </p:txBody>
      </p:sp>
      <p:cxnSp>
        <p:nvCxnSpPr>
          <p:cNvPr id="20" name="TOC line 21"/>
          <p:cNvCxnSpPr/>
          <p:nvPr/>
        </p:nvCxnSpPr>
        <p:spPr>
          <a:xfrm>
            <a:off x="609600" y="55118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1" name="TOC 22"/>
          <p:cNvSpPr txBox="1"/>
          <p:nvPr/>
        </p:nvSpPr>
        <p:spPr>
          <a:xfrm>
            <a:off x="609600" y="5511800"/>
            <a:ext cx="1016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800" b="1" dirty="0">
                <a:solidFill>
                  <a:srgbClr val="156082"/>
                </a:solidFill>
              </a:rPr>
              <a:t>05</a:t>
            </a:r>
          </a:p>
        </p:txBody>
      </p:sp>
      <p:sp>
        <p:nvSpPr>
          <p:cNvPr id="22" name="TOC 23"/>
          <p:cNvSpPr txBox="1"/>
          <p:nvPr/>
        </p:nvSpPr>
        <p:spPr>
          <a:xfrm>
            <a:off x="1727200" y="5511800"/>
            <a:ext cx="8128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l"/>
            <a:r>
              <a:rPr lang="ko-KR" altLang="en-US" sz="2200" dirty="0">
                <a:solidFill>
                  <a:srgbClr val="1A1A1A"/>
                </a:solidFill>
              </a:rPr>
              <a:t>내부 LLM(iM GPT) 사용 구간</a:t>
            </a:r>
          </a:p>
        </p:txBody>
      </p:sp>
      <p:sp>
        <p:nvSpPr>
          <p:cNvPr id="23" name="TOC 24"/>
          <p:cNvSpPr txBox="1"/>
          <p:nvPr/>
        </p:nvSpPr>
        <p:spPr>
          <a:xfrm>
            <a:off x="10058400" y="5511800"/>
            <a:ext cx="1524000" cy="914400"/>
          </a:xfrm>
          <a:prstGeom prst="rect">
            <a:avLst/>
          </a:prstGeom>
          <a:noFill/>
        </p:spPr>
        <p:txBody>
          <a:bodyPr wrap="square" lIns="88900" tIns="0" rIns="88900" bIns="0" anchor="ctr">
            <a:noAutofit/>
          </a:bodyPr>
          <a:lstStyle/>
          <a:p>
            <a:pPr algn="r"/>
            <a:r>
              <a:rPr lang="ko-KR" altLang="en-US" sz="1800" dirty="0">
                <a:solidFill>
                  <a:srgbClr val="595959"/>
                </a:solidFill>
              </a:rPr>
              <a:t>p.7</a:t>
            </a:r>
          </a:p>
        </p:txBody>
      </p:sp>
      <p:cxnSp>
        <p:nvCxnSpPr>
          <p:cNvPr id="24" name="TOC line 25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</p:spTree>
    <p:extLst>
      <p:ext uri="{BB962C8B-B14F-4D97-AF65-F5344CB8AC3E}">
        <p14:creationId xmlns:p14="http://schemas.microsoft.com/office/powerpoint/2010/main" val="363874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820150-6603-E8CD-EADF-07CFA86D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790575"/>
            <a:ext cx="9905202" cy="5505450"/>
          </a:xfrm>
          <a:prstGeom prst="rect">
            <a:avLst/>
          </a:prstGeom>
        </p:spPr>
      </p:pic>
      <p:sp>
        <p:nvSpPr>
          <p:cNvPr id="2" name="액자 1">
            <a:extLst>
              <a:ext uri="{FF2B5EF4-FFF2-40B4-BE49-F238E27FC236}">
                <a16:creationId xmlns:a16="http://schemas.microsoft.com/office/drawing/2014/main" id="{F1C5D464-5C19-32F8-00F9-4BCE7625B9C1}"/>
              </a:ext>
            </a:extLst>
          </p:cNvPr>
          <p:cNvSpPr/>
          <p:nvPr/>
        </p:nvSpPr>
        <p:spPr>
          <a:xfrm>
            <a:off x="2977031" y="2726049"/>
            <a:ext cx="1724623" cy="986142"/>
          </a:xfrm>
          <a:prstGeom prst="frame">
            <a:avLst>
              <a:gd name="adj1" fmla="val 34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Section Header">
            <a:extLst>
              <a:ext uri="{FF2B5EF4-FFF2-40B4-BE49-F238E27FC236}">
                <a16:creationId xmlns:a16="http://schemas.microsoft.com/office/drawing/2014/main" id="{08DF69B8-3A9A-8C46-A5E8-835A6B180382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01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8" name="Section Header">
            <a:extLst>
              <a:ext uri="{FF2B5EF4-FFF2-40B4-BE49-F238E27FC236}">
                <a16:creationId xmlns:a16="http://schemas.microsoft.com/office/drawing/2014/main" id="{15103A76-D2AF-2D41-A7E8-89BBF31F6429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1A1A1A"/>
                </a:solidFill>
              </a:rPr>
              <a:t>모바일 뱅킹 가입 시 필수로 받는 서류</a:t>
            </a:r>
          </a:p>
        </p:txBody>
      </p:sp>
      <p:sp>
        <p:nvSpPr>
          <p:cNvPr id="10" name="Section Header Line">
            <a:extLst>
              <a:ext uri="{FF2B5EF4-FFF2-40B4-BE49-F238E27FC236}">
                <a16:creationId xmlns:a16="http://schemas.microsoft.com/office/drawing/2014/main" id="{64D04728-FDFF-4442-81B1-0EB4984CA1BF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4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5B825F-C322-721B-66E3-A206FA75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071260"/>
            <a:ext cx="5627947" cy="5659738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3255BA7C-2B2F-0683-A50D-EBC5E1FD74F7}"/>
              </a:ext>
            </a:extLst>
          </p:cNvPr>
          <p:cNvSpPr/>
          <p:nvPr/>
        </p:nvSpPr>
        <p:spPr>
          <a:xfrm>
            <a:off x="1288253" y="4539252"/>
            <a:ext cx="4128610" cy="691543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65ED0C25-7014-E733-682A-E020F756C62F}"/>
              </a:ext>
            </a:extLst>
          </p:cNvPr>
          <p:cNvSpPr/>
          <p:nvPr/>
        </p:nvSpPr>
        <p:spPr>
          <a:xfrm>
            <a:off x="1357683" y="4722051"/>
            <a:ext cx="442194" cy="179840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9A9175-2582-F96E-7A27-0564D3B73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200" y="969069"/>
            <a:ext cx="5830920" cy="5761930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1FBF2DDF-3B7D-4235-60FA-E27FA37FFB07}"/>
              </a:ext>
            </a:extLst>
          </p:cNvPr>
          <p:cNvSpPr/>
          <p:nvPr/>
        </p:nvSpPr>
        <p:spPr>
          <a:xfrm>
            <a:off x="6835546" y="1698138"/>
            <a:ext cx="4621495" cy="1050428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43A2AE1C-2BB5-1DF0-39D2-92675FF7F89B}"/>
              </a:ext>
            </a:extLst>
          </p:cNvPr>
          <p:cNvSpPr/>
          <p:nvPr/>
        </p:nvSpPr>
        <p:spPr>
          <a:xfrm>
            <a:off x="10773089" y="1802225"/>
            <a:ext cx="494984" cy="273170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액자 13">
            <a:extLst>
              <a:ext uri="{FF2B5EF4-FFF2-40B4-BE49-F238E27FC236}">
                <a16:creationId xmlns:a16="http://schemas.microsoft.com/office/drawing/2014/main" id="{8FD1188E-7D72-704F-430D-14EB55F5FEC6}"/>
              </a:ext>
            </a:extLst>
          </p:cNvPr>
          <p:cNvSpPr/>
          <p:nvPr/>
        </p:nvSpPr>
        <p:spPr>
          <a:xfrm>
            <a:off x="6858035" y="5436006"/>
            <a:ext cx="4621495" cy="1050428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>
            <a:extLst>
              <a:ext uri="{FF2B5EF4-FFF2-40B4-BE49-F238E27FC236}">
                <a16:creationId xmlns:a16="http://schemas.microsoft.com/office/drawing/2014/main" id="{3F14C344-5DAD-D621-531E-DCDE94CDB261}"/>
              </a:ext>
            </a:extLst>
          </p:cNvPr>
          <p:cNvSpPr/>
          <p:nvPr/>
        </p:nvSpPr>
        <p:spPr>
          <a:xfrm>
            <a:off x="10750600" y="5562582"/>
            <a:ext cx="494984" cy="273170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5232C-50EE-C35C-FAC0-56325C8B3288}"/>
              </a:ext>
            </a:extLst>
          </p:cNvPr>
          <p:cNvSpPr txBox="1"/>
          <p:nvPr/>
        </p:nvSpPr>
        <p:spPr>
          <a:xfrm>
            <a:off x="354021" y="787400"/>
            <a:ext cx="5997073" cy="36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신용</a:t>
            </a:r>
            <a:r>
              <a:rPr lang="en-US" altLang="ko-KR" dirty="0"/>
              <a:t>)</a:t>
            </a:r>
            <a:r>
              <a:rPr lang="ko-KR" altLang="en-US" dirty="0"/>
              <a:t>정보 필수적 전체 동의서</a:t>
            </a:r>
          </a:p>
        </p:txBody>
      </p:sp>
      <p:sp>
        <p:nvSpPr>
          <p:cNvPr id="3" name="Section Header">
            <a:extLst>
              <a:ext uri="{FF2B5EF4-FFF2-40B4-BE49-F238E27FC236}">
                <a16:creationId xmlns:a16="http://schemas.microsoft.com/office/drawing/2014/main" id="{98CC8F07-1C4B-BF46-BFA3-DB2EDB1E9F8D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02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4" name="Section Header">
            <a:extLst>
              <a:ext uri="{FF2B5EF4-FFF2-40B4-BE49-F238E27FC236}">
                <a16:creationId xmlns:a16="http://schemas.microsoft.com/office/drawing/2014/main" id="{7E1DD8CF-FEF0-154D-83E7-0589D27BC861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1A1A1A"/>
                </a:solidFill>
              </a:rPr>
              <a:t>개인</a:t>
            </a:r>
            <a:r>
              <a:rPr lang="en-US" altLang="ko-KR" sz="2200" b="1">
                <a:solidFill>
                  <a:srgbClr val="1A1A1A"/>
                </a:solidFill>
              </a:rPr>
              <a:t>(</a:t>
            </a:r>
            <a:r>
              <a:rPr lang="ko-KR" altLang="en-US" sz="2200" b="1">
                <a:solidFill>
                  <a:srgbClr val="1A1A1A"/>
                </a:solidFill>
              </a:rPr>
              <a:t>신용</a:t>
            </a:r>
            <a:r>
              <a:rPr lang="en-US" altLang="ko-KR" sz="2200" b="1">
                <a:solidFill>
                  <a:srgbClr val="1A1A1A"/>
                </a:solidFill>
              </a:rPr>
              <a:t>)</a:t>
            </a:r>
            <a:r>
              <a:rPr lang="ko-KR" altLang="en-US" sz="2200" b="1">
                <a:solidFill>
                  <a:srgbClr val="1A1A1A"/>
                </a:solidFill>
              </a:rPr>
              <a:t>정보 필수적 전체 동의서 발췌</a:t>
            </a:r>
          </a:p>
        </p:txBody>
      </p:sp>
      <p:sp>
        <p:nvSpPr>
          <p:cNvPr id="8" name="Section Header Line">
            <a:extLst>
              <a:ext uri="{FF2B5EF4-FFF2-40B4-BE49-F238E27FC236}">
                <a16:creationId xmlns:a16="http://schemas.microsoft.com/office/drawing/2014/main" id="{04BEAC7E-CCF4-5149-9672-32E5F68F9247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03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374166-C402-BD01-993D-0B64749B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16" y="787400"/>
            <a:ext cx="5842861" cy="5943600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1BA4B158-6575-1D0F-01D2-374C5AE21895}"/>
              </a:ext>
            </a:extLst>
          </p:cNvPr>
          <p:cNvSpPr/>
          <p:nvPr/>
        </p:nvSpPr>
        <p:spPr>
          <a:xfrm>
            <a:off x="1383596" y="1520712"/>
            <a:ext cx="4698640" cy="986365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1ACBD5D2-F635-8F4E-B2DD-D880491EE5DF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02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3" name="Section Header">
            <a:extLst>
              <a:ext uri="{FF2B5EF4-FFF2-40B4-BE49-F238E27FC236}">
                <a16:creationId xmlns:a16="http://schemas.microsoft.com/office/drawing/2014/main" id="{36F4706F-23B1-3442-A2CF-BD8675FC62FE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1A1A1A"/>
                </a:solidFill>
              </a:rPr>
              <a:t>개인</a:t>
            </a:r>
            <a:r>
              <a:rPr lang="en-US" altLang="ko-KR" sz="2200" b="1">
                <a:solidFill>
                  <a:srgbClr val="1A1A1A"/>
                </a:solidFill>
              </a:rPr>
              <a:t>(</a:t>
            </a:r>
            <a:r>
              <a:rPr lang="ko-KR" altLang="en-US" sz="2200" b="1">
                <a:solidFill>
                  <a:srgbClr val="1A1A1A"/>
                </a:solidFill>
              </a:rPr>
              <a:t>신용</a:t>
            </a:r>
            <a:r>
              <a:rPr lang="en-US" altLang="ko-KR" sz="2200" b="1">
                <a:solidFill>
                  <a:srgbClr val="1A1A1A"/>
                </a:solidFill>
              </a:rPr>
              <a:t>)</a:t>
            </a:r>
            <a:r>
              <a:rPr lang="ko-KR" altLang="en-US" sz="2200" b="1">
                <a:solidFill>
                  <a:srgbClr val="1A1A1A"/>
                </a:solidFill>
              </a:rPr>
              <a:t>정보 필수적 전체 동의서 발췌</a:t>
            </a:r>
          </a:p>
        </p:txBody>
      </p:sp>
      <p:sp>
        <p:nvSpPr>
          <p:cNvPr id="7" name="Section Header Line">
            <a:extLst>
              <a:ext uri="{FF2B5EF4-FFF2-40B4-BE49-F238E27FC236}">
                <a16:creationId xmlns:a16="http://schemas.microsoft.com/office/drawing/2014/main" id="{BCF17723-A8AD-974C-A202-2C3B53D11D91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11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FF185A-5271-C49C-FD79-9E1F7C078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30" y="979572"/>
            <a:ext cx="6047953" cy="57514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A807E1-0FF2-2227-D609-05BA7011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98" y="787400"/>
            <a:ext cx="5612064" cy="2244825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D83CBE58-854C-361D-5948-B3624AEB38A7}"/>
              </a:ext>
            </a:extLst>
          </p:cNvPr>
          <p:cNvSpPr/>
          <p:nvPr/>
        </p:nvSpPr>
        <p:spPr>
          <a:xfrm>
            <a:off x="1258193" y="5209969"/>
            <a:ext cx="4450640" cy="480026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CF766C18-33D8-E5E8-4943-32546D3EE48A}"/>
              </a:ext>
            </a:extLst>
          </p:cNvPr>
          <p:cNvSpPr/>
          <p:nvPr/>
        </p:nvSpPr>
        <p:spPr>
          <a:xfrm>
            <a:off x="1258193" y="5468493"/>
            <a:ext cx="752637" cy="221502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62301553-3087-E9A1-F19F-DB7C84D63A73}"/>
              </a:ext>
            </a:extLst>
          </p:cNvPr>
          <p:cNvSpPr/>
          <p:nvPr/>
        </p:nvSpPr>
        <p:spPr>
          <a:xfrm>
            <a:off x="6773252" y="1197242"/>
            <a:ext cx="4450640" cy="1674779"/>
          </a:xfrm>
          <a:prstGeom prst="frame">
            <a:avLst>
              <a:gd name="adj1" fmla="val 21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Section Header">
            <a:extLst>
              <a:ext uri="{FF2B5EF4-FFF2-40B4-BE49-F238E27FC236}">
                <a16:creationId xmlns:a16="http://schemas.microsoft.com/office/drawing/2014/main" id="{F4B490A1-D2D8-4049-992F-026CB129C7CA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03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10" name="Section Header">
            <a:extLst>
              <a:ext uri="{FF2B5EF4-FFF2-40B4-BE49-F238E27FC236}">
                <a16:creationId xmlns:a16="http://schemas.microsoft.com/office/drawing/2014/main" id="{9742D19C-8311-6543-A50D-9368924DBBC8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2200" b="1" dirty="0" err="1">
                <a:solidFill>
                  <a:srgbClr val="1A1A1A"/>
                </a:solidFill>
              </a:rPr>
              <a:t>iM</a:t>
            </a:r>
            <a:r>
              <a:rPr lang="en" altLang="ko-KR" sz="2200" b="1" dirty="0">
                <a:solidFill>
                  <a:srgbClr val="1A1A1A"/>
                </a:solidFill>
              </a:rPr>
              <a:t> ZERO AI </a:t>
            </a:r>
            <a:r>
              <a:rPr lang="ko-KR" altLang="en-US" sz="2200" b="1" dirty="0">
                <a:solidFill>
                  <a:srgbClr val="1A1A1A"/>
                </a:solidFill>
              </a:rPr>
              <a:t>기본 서비스 이용 약관 발췌</a:t>
            </a:r>
          </a:p>
        </p:txBody>
      </p:sp>
      <p:sp>
        <p:nvSpPr>
          <p:cNvPr id="12" name="Section Header Line">
            <a:extLst>
              <a:ext uri="{FF2B5EF4-FFF2-40B4-BE49-F238E27FC236}">
                <a16:creationId xmlns:a16="http://schemas.microsoft.com/office/drawing/2014/main" id="{C6690BCC-214D-0743-804D-A4E97AA7DBF1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33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ock 11"/>
          <p:cNvSpPr/>
          <p:nvPr/>
        </p:nvSpPr>
        <p:spPr>
          <a:xfrm>
            <a:off x="457200" y="1397000"/>
            <a:ext cx="3556000" cy="4318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1A1A1A"/>
                </a:solidFill>
              </a:rPr>
              <a:t>시나리오 1  ·  팝업만</a:t>
            </a:r>
          </a:p>
        </p:txBody>
      </p:sp>
      <p:sp>
        <p:nvSpPr>
          <p:cNvPr id="11" name="Mock 12"/>
          <p:cNvSpPr/>
          <p:nvPr/>
        </p:nvSpPr>
        <p:spPr>
          <a:xfrm>
            <a:off x="457200" y="1905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</a:rPr>
              <a:t>약관·동의서 별도 적용 없음</a:t>
            </a:r>
          </a:p>
        </p:txBody>
      </p:sp>
      <p:sp>
        <p:nvSpPr>
          <p:cNvPr id="12" name="Mock 13"/>
          <p:cNvSpPr/>
          <p:nvPr/>
        </p:nvSpPr>
        <p:spPr>
          <a:xfrm>
            <a:off x="1447800" y="2438400"/>
            <a:ext cx="15748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13" name="Mock 14"/>
          <p:cNvSpPr/>
          <p:nvPr/>
        </p:nvSpPr>
        <p:spPr>
          <a:xfrm>
            <a:off x="1549400" y="2501900"/>
            <a:ext cx="508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550" b="1" dirty="0">
                <a:solidFill>
                  <a:srgbClr val="1A1A1A"/>
                </a:solidFill>
              </a:rPr>
              <a:t>11:16</a:t>
            </a:r>
          </a:p>
        </p:txBody>
      </p:sp>
      <p:sp>
        <p:nvSpPr>
          <p:cNvPr id="14" name="Mock 15"/>
          <p:cNvSpPr/>
          <p:nvPr/>
        </p:nvSpPr>
        <p:spPr>
          <a:xfrm>
            <a:off x="1473200" y="2641600"/>
            <a:ext cx="1524000" cy="1219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5" name="Mock 16"/>
          <p:cNvSpPr/>
          <p:nvPr/>
        </p:nvSpPr>
        <p:spPr>
          <a:xfrm>
            <a:off x="1549400" y="274320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rgbClr val="2B2B2B"/>
                </a:solidFill>
              </a:rPr>
              <a:t>누구에게 보낼까요?</a:t>
            </a:r>
          </a:p>
        </p:txBody>
      </p:sp>
      <p:sp>
        <p:nvSpPr>
          <p:cNvPr id="16" name="Mock 17"/>
          <p:cNvSpPr/>
          <p:nvPr/>
        </p:nvSpPr>
        <p:spPr>
          <a:xfrm>
            <a:off x="1549400" y="2971800"/>
            <a:ext cx="1371600" cy="203200"/>
          </a:xfrm>
          <a:prstGeom prst="roundRect">
            <a:avLst>
              <a:gd name="adj" fmla="val 30000"/>
            </a:avLst>
          </a:prstGeom>
          <a:solidFill>
            <a:srgbClr val="A8A8A8"/>
          </a:solidFill>
          <a:ln w="9525">
            <a:solidFill>
              <a:srgbClr val="8A8A8A"/>
            </a:solidFill>
          </a:ln>
        </p:spPr>
        <p:txBody>
          <a:bodyPr wrap="square" lIns="63500" tIns="0" rIns="63500" bIns="0" anchor="ctr">
            <a:noAutofit/>
          </a:bodyPr>
          <a:lstStyle/>
          <a:p>
            <a:pPr algn="l"/>
            <a:r>
              <a:rPr lang="ko-KR" altLang="en-US" sz="550" dirty="0">
                <a:solidFill>
                  <a:srgbClr val="5A5A5A"/>
                </a:solidFill>
              </a:rPr>
              <a:t>계좌번호 입력</a:t>
            </a:r>
          </a:p>
        </p:txBody>
      </p:sp>
      <p:sp>
        <p:nvSpPr>
          <p:cNvPr id="17" name="Mock 18"/>
          <p:cNvSpPr/>
          <p:nvPr/>
        </p:nvSpPr>
        <p:spPr>
          <a:xfrm>
            <a:off x="1473200" y="3657600"/>
            <a:ext cx="1524000" cy="218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8" name="Mock 19"/>
          <p:cNvSpPr/>
          <p:nvPr/>
        </p:nvSpPr>
        <p:spPr>
          <a:xfrm>
            <a:off x="2819400" y="372110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>✕</a:t>
            </a:r>
          </a:p>
        </p:txBody>
      </p:sp>
      <p:sp>
        <p:nvSpPr>
          <p:cNvPr id="19" name="Mock 20"/>
          <p:cNvSpPr/>
          <p:nvPr/>
        </p:nvSpPr>
        <p:spPr>
          <a:xfrm>
            <a:off x="2070100" y="3784600"/>
            <a:ext cx="330200" cy="330200"/>
          </a:xfrm>
          <a:prstGeom prst="ellipse">
            <a:avLst/>
          </a:prstGeom>
          <a:gradFill>
            <a:gsLst>
              <a:gs pos="0">
                <a:srgbClr val="8BE07A"/>
              </a:gs>
              <a:gs pos="100000">
                <a:srgbClr val="3BA7E5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0" name="Mock 21"/>
          <p:cNvSpPr/>
          <p:nvPr/>
        </p:nvSpPr>
        <p:spPr>
          <a:xfrm>
            <a:off x="2146300" y="3860800"/>
            <a:ext cx="177800" cy="17780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1" name="Mock 22"/>
          <p:cNvSpPr/>
          <p:nvPr/>
        </p:nvSpPr>
        <p:spPr>
          <a:xfrm>
            <a:off x="2298700" y="4025900"/>
            <a:ext cx="228600" cy="1016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450" b="1" dirty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22" name="Mock 23"/>
          <p:cNvSpPr/>
          <p:nvPr/>
        </p:nvSpPr>
        <p:spPr>
          <a:xfrm>
            <a:off x="1524000" y="41910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AI가 음성을 분석해</a:t>
            </a:r>
          </a:p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은행명과 계좌번호를 추출해요</a:t>
            </a:r>
          </a:p>
        </p:txBody>
      </p:sp>
      <p:sp>
        <p:nvSpPr>
          <p:cNvPr id="23" name="Mock 24"/>
          <p:cNvSpPr/>
          <p:nvPr/>
        </p:nvSpPr>
        <p:spPr>
          <a:xfrm>
            <a:off x="1562100" y="45720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4" name="Mock 25"/>
          <p:cNvSpPr/>
          <p:nvPr/>
        </p:nvSpPr>
        <p:spPr>
          <a:xfrm>
            <a:off x="1612900" y="4622800"/>
            <a:ext cx="101600" cy="101600"/>
          </a:xfrm>
          <a:prstGeom prst="ellipse">
            <a:avLst/>
          </a:prstGeom>
          <a:solidFill>
            <a:srgbClr val="2EC4A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5" name="Mock 26"/>
          <p:cNvSpPr/>
          <p:nvPr/>
        </p:nvSpPr>
        <p:spPr>
          <a:xfrm>
            <a:off x="1828800" y="45593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음성 인식 결과에 따라 일부 정보가 다를 수 있어요</a:t>
            </a:r>
          </a:p>
        </p:txBody>
      </p:sp>
      <p:sp>
        <p:nvSpPr>
          <p:cNvPr id="26" name="Mock 27"/>
          <p:cNvSpPr/>
          <p:nvPr/>
        </p:nvSpPr>
        <p:spPr>
          <a:xfrm>
            <a:off x="1562100" y="48514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7" name="Mock 28"/>
          <p:cNvSpPr/>
          <p:nvPr/>
        </p:nvSpPr>
        <p:spPr>
          <a:xfrm>
            <a:off x="1612900" y="4902200"/>
            <a:ext cx="101600" cy="101600"/>
          </a:xfrm>
          <a:prstGeom prst="ellipse">
            <a:avLst/>
          </a:prstGeom>
          <a:solidFill>
            <a:srgbClr val="5B6FE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28" name="Mock 29"/>
          <p:cNvSpPr/>
          <p:nvPr/>
        </p:nvSpPr>
        <p:spPr>
          <a:xfrm>
            <a:off x="1828800" y="48387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추출된 정보는 이체 화면에서 반드시 확인 후 이체해 주세요</a:t>
            </a:r>
          </a:p>
        </p:txBody>
      </p:sp>
      <p:sp>
        <p:nvSpPr>
          <p:cNvPr id="29" name="Mock 30"/>
          <p:cNvSpPr/>
          <p:nvPr/>
        </p:nvSpPr>
        <p:spPr>
          <a:xfrm>
            <a:off x="1574800" y="5156200"/>
            <a:ext cx="101600" cy="10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30" name="Mock 31"/>
          <p:cNvSpPr/>
          <p:nvPr/>
        </p:nvSpPr>
        <p:spPr>
          <a:xfrm>
            <a:off x="1727200" y="5143500"/>
            <a:ext cx="11938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dirty="0">
                <a:solidFill>
                  <a:srgbClr val="1A1A1A"/>
                </a:solidFill>
              </a:rPr>
              <a:t>AI 활용 안내 그만 보기</a:t>
            </a:r>
          </a:p>
        </p:txBody>
      </p:sp>
      <p:sp>
        <p:nvSpPr>
          <p:cNvPr id="31" name="Mock 32"/>
          <p:cNvSpPr/>
          <p:nvPr/>
        </p:nvSpPr>
        <p:spPr>
          <a:xfrm>
            <a:off x="1549400" y="5435600"/>
            <a:ext cx="1371600" cy="254000"/>
          </a:xfrm>
          <a:prstGeom prst="roundRect">
            <a:avLst>
              <a:gd name="adj" fmla="val 22000"/>
            </a:avLst>
          </a:prstGeom>
          <a:solidFill>
            <a:srgbClr val="14A38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</a:rPr>
              <a:t>사용해보기</a:t>
            </a:r>
          </a:p>
        </p:txBody>
      </p:sp>
      <p:sp>
        <p:nvSpPr>
          <p:cNvPr id="32" name="Mock 33"/>
          <p:cNvSpPr/>
          <p:nvPr/>
        </p:nvSpPr>
        <p:spPr>
          <a:xfrm>
            <a:off x="457200" y="59436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dirty="0">
                <a:solidFill>
                  <a:srgbClr val="595959"/>
                </a:solidFill>
              </a:rPr>
              <a:t>AI 활용 안내 팝업</a:t>
            </a:r>
          </a:p>
        </p:txBody>
      </p:sp>
      <p:sp>
        <p:nvSpPr>
          <p:cNvPr id="33" name="Mock 34"/>
          <p:cNvSpPr/>
          <p:nvPr/>
        </p:nvSpPr>
        <p:spPr>
          <a:xfrm>
            <a:off x="4318000" y="1397000"/>
            <a:ext cx="3556000" cy="4318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1A1A1A"/>
                </a:solidFill>
              </a:rPr>
              <a:t>시나리오 2  ·  기존 약관 + 팝업</a:t>
            </a:r>
          </a:p>
        </p:txBody>
      </p:sp>
      <p:sp>
        <p:nvSpPr>
          <p:cNvPr id="34" name="Mock 35"/>
          <p:cNvSpPr/>
          <p:nvPr/>
        </p:nvSpPr>
        <p:spPr>
          <a:xfrm>
            <a:off x="4318000" y="1905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</a:rPr>
              <a:t>기존 iM ZERO 약관·동의서 적용</a:t>
            </a:r>
          </a:p>
        </p:txBody>
      </p:sp>
      <p:sp>
        <p:nvSpPr>
          <p:cNvPr id="35" name="Mock 36"/>
          <p:cNvSpPr/>
          <p:nvPr/>
        </p:nvSpPr>
        <p:spPr>
          <a:xfrm>
            <a:off x="4318000" y="2438400"/>
            <a:ext cx="15748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36" name="Mock 37"/>
          <p:cNvSpPr/>
          <p:nvPr/>
        </p:nvSpPr>
        <p:spPr>
          <a:xfrm>
            <a:off x="4419600" y="2501900"/>
            <a:ext cx="508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550" b="1" dirty="0">
                <a:solidFill>
                  <a:srgbClr val="1A1A1A"/>
                </a:solidFill>
              </a:rPr>
              <a:t>11:16</a:t>
            </a:r>
          </a:p>
        </p:txBody>
      </p:sp>
      <p:sp>
        <p:nvSpPr>
          <p:cNvPr id="37" name="Mock 38"/>
          <p:cNvSpPr/>
          <p:nvPr/>
        </p:nvSpPr>
        <p:spPr>
          <a:xfrm>
            <a:off x="4419600" y="269240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750" b="1" dirty="0">
                <a:solidFill>
                  <a:srgbClr val="1A1A1A"/>
                </a:solidFill>
              </a:rPr>
              <a:t>‹  약관 동의</a:t>
            </a:r>
          </a:p>
        </p:txBody>
      </p:sp>
      <p:sp>
        <p:nvSpPr>
          <p:cNvPr id="38" name="Mock 39"/>
          <p:cNvSpPr/>
          <p:nvPr/>
        </p:nvSpPr>
        <p:spPr>
          <a:xfrm>
            <a:off x="4419600" y="2946400"/>
            <a:ext cx="1371600" cy="1524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550" b="1" dirty="0">
                <a:solidFill>
                  <a:srgbClr val="595959"/>
                </a:solidFill>
              </a:rPr>
              <a:t>기존 약관</a:t>
            </a:r>
          </a:p>
        </p:txBody>
      </p:sp>
      <p:sp>
        <p:nvSpPr>
          <p:cNvPr id="39" name="Mock 40"/>
          <p:cNvSpPr/>
          <p:nvPr/>
        </p:nvSpPr>
        <p:spPr>
          <a:xfrm>
            <a:off x="4419600" y="3175000"/>
            <a:ext cx="137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650" b="1" dirty="0">
                <a:solidFill>
                  <a:srgbClr val="1A1A1A"/>
                </a:solidFill>
              </a:rPr>
              <a:t>iM ZERO AI 기본 서비스</a:t>
            </a:r>
          </a:p>
          <a:p>
            <a:pPr algn="l"/>
            <a:r>
              <a:rPr lang="ko-KR" altLang="en-US" sz="650" b="1" dirty="0">
                <a:solidFill>
                  <a:srgbClr val="1A1A1A"/>
                </a:solidFill>
              </a:rPr>
              <a:t>이용 약관</a:t>
            </a:r>
          </a:p>
        </p:txBody>
      </p:sp>
      <p:sp>
        <p:nvSpPr>
          <p:cNvPr id="40" name="Mock 41"/>
          <p:cNvSpPr/>
          <p:nvPr/>
        </p:nvSpPr>
        <p:spPr>
          <a:xfrm>
            <a:off x="4419600" y="3530600"/>
            <a:ext cx="1270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1" name="Mock 42"/>
          <p:cNvSpPr/>
          <p:nvPr/>
        </p:nvSpPr>
        <p:spPr>
          <a:xfrm>
            <a:off x="4419600" y="3632200"/>
            <a:ext cx="11684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2" name="Mock 43"/>
          <p:cNvSpPr/>
          <p:nvPr/>
        </p:nvSpPr>
        <p:spPr>
          <a:xfrm>
            <a:off x="4419600" y="3733800"/>
            <a:ext cx="13208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3" name="Mock 44"/>
          <p:cNvSpPr/>
          <p:nvPr/>
        </p:nvSpPr>
        <p:spPr>
          <a:xfrm>
            <a:off x="4419600" y="3835400"/>
            <a:ext cx="10922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4" name="Mock 45"/>
          <p:cNvSpPr/>
          <p:nvPr/>
        </p:nvSpPr>
        <p:spPr>
          <a:xfrm>
            <a:off x="4419600" y="3937000"/>
            <a:ext cx="1270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5" name="Mock 46"/>
          <p:cNvSpPr/>
          <p:nvPr/>
        </p:nvSpPr>
        <p:spPr>
          <a:xfrm>
            <a:off x="4419600" y="4038600"/>
            <a:ext cx="12192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6" name="Mock 47"/>
          <p:cNvSpPr/>
          <p:nvPr/>
        </p:nvSpPr>
        <p:spPr>
          <a:xfrm>
            <a:off x="4419600" y="4140200"/>
            <a:ext cx="889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7" name="Mock 48"/>
          <p:cNvSpPr/>
          <p:nvPr/>
        </p:nvSpPr>
        <p:spPr>
          <a:xfrm>
            <a:off x="4419600" y="4241800"/>
            <a:ext cx="12954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8" name="Mock 49"/>
          <p:cNvSpPr/>
          <p:nvPr/>
        </p:nvSpPr>
        <p:spPr>
          <a:xfrm>
            <a:off x="4419600" y="4343400"/>
            <a:ext cx="1143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49" name="Mock 50"/>
          <p:cNvSpPr/>
          <p:nvPr/>
        </p:nvSpPr>
        <p:spPr>
          <a:xfrm>
            <a:off x="4419600" y="4445000"/>
            <a:ext cx="12446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50" name="Mock 51"/>
          <p:cNvSpPr/>
          <p:nvPr/>
        </p:nvSpPr>
        <p:spPr>
          <a:xfrm>
            <a:off x="4419600" y="4546600"/>
            <a:ext cx="10668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51" name="Mock 52"/>
          <p:cNvSpPr/>
          <p:nvPr/>
        </p:nvSpPr>
        <p:spPr>
          <a:xfrm>
            <a:off x="4419600" y="4648200"/>
            <a:ext cx="762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52" name="Mock 53"/>
          <p:cNvSpPr/>
          <p:nvPr/>
        </p:nvSpPr>
        <p:spPr>
          <a:xfrm>
            <a:off x="4445000" y="5130800"/>
            <a:ext cx="101600" cy="101600"/>
          </a:xfrm>
          <a:prstGeom prst="roundRect">
            <a:avLst>
              <a:gd name="adj" fmla="val 15000"/>
            </a:avLst>
          </a:prstGeom>
          <a:solidFill>
            <a:srgbClr val="14A38B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53" name="Mock 54"/>
          <p:cNvSpPr/>
          <p:nvPr/>
        </p:nvSpPr>
        <p:spPr>
          <a:xfrm>
            <a:off x="4597400" y="5118100"/>
            <a:ext cx="11938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dirty="0">
                <a:solidFill>
                  <a:srgbClr val="1A1A1A"/>
                </a:solidFill>
              </a:rPr>
              <a:t>[필수] 약관 및 동의서 동의</a:t>
            </a:r>
          </a:p>
        </p:txBody>
      </p:sp>
      <p:sp>
        <p:nvSpPr>
          <p:cNvPr id="54" name="Mock 55"/>
          <p:cNvSpPr/>
          <p:nvPr/>
        </p:nvSpPr>
        <p:spPr>
          <a:xfrm>
            <a:off x="4419600" y="5435600"/>
            <a:ext cx="1371600" cy="254000"/>
          </a:xfrm>
          <a:prstGeom prst="roundRect">
            <a:avLst>
              <a:gd name="adj" fmla="val 22000"/>
            </a:avLst>
          </a:prstGeom>
          <a:solidFill>
            <a:srgbClr val="14A38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</a:rPr>
              <a:t>동의하고 계속</a:t>
            </a:r>
          </a:p>
        </p:txBody>
      </p:sp>
      <p:sp>
        <p:nvSpPr>
          <p:cNvPr id="55" name="Mock 56"/>
          <p:cNvSpPr/>
          <p:nvPr/>
        </p:nvSpPr>
        <p:spPr>
          <a:xfrm>
            <a:off x="6299200" y="2438400"/>
            <a:ext cx="15748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56" name="Mock 57"/>
          <p:cNvSpPr/>
          <p:nvPr/>
        </p:nvSpPr>
        <p:spPr>
          <a:xfrm>
            <a:off x="6400800" y="2501900"/>
            <a:ext cx="508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550" b="1" dirty="0">
                <a:solidFill>
                  <a:srgbClr val="1A1A1A"/>
                </a:solidFill>
              </a:rPr>
              <a:t>11:16</a:t>
            </a:r>
          </a:p>
        </p:txBody>
      </p:sp>
      <p:sp>
        <p:nvSpPr>
          <p:cNvPr id="57" name="Mock 58"/>
          <p:cNvSpPr/>
          <p:nvPr/>
        </p:nvSpPr>
        <p:spPr>
          <a:xfrm>
            <a:off x="6324600" y="2641600"/>
            <a:ext cx="1524000" cy="1219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58" name="Mock 59"/>
          <p:cNvSpPr/>
          <p:nvPr/>
        </p:nvSpPr>
        <p:spPr>
          <a:xfrm>
            <a:off x="6400800" y="274320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rgbClr val="2B2B2B"/>
                </a:solidFill>
              </a:rPr>
              <a:t>누구에게 보낼까요?</a:t>
            </a:r>
          </a:p>
        </p:txBody>
      </p:sp>
      <p:sp>
        <p:nvSpPr>
          <p:cNvPr id="59" name="Mock 60"/>
          <p:cNvSpPr/>
          <p:nvPr/>
        </p:nvSpPr>
        <p:spPr>
          <a:xfrm>
            <a:off x="6400800" y="2971800"/>
            <a:ext cx="1371600" cy="203200"/>
          </a:xfrm>
          <a:prstGeom prst="roundRect">
            <a:avLst>
              <a:gd name="adj" fmla="val 30000"/>
            </a:avLst>
          </a:prstGeom>
          <a:solidFill>
            <a:srgbClr val="A8A8A8"/>
          </a:solidFill>
          <a:ln w="9525">
            <a:solidFill>
              <a:srgbClr val="8A8A8A"/>
            </a:solidFill>
          </a:ln>
        </p:spPr>
        <p:txBody>
          <a:bodyPr wrap="square" lIns="63500" tIns="0" rIns="63500" bIns="0" anchor="ctr">
            <a:noAutofit/>
          </a:bodyPr>
          <a:lstStyle/>
          <a:p>
            <a:pPr algn="l"/>
            <a:r>
              <a:rPr lang="ko-KR" altLang="en-US" sz="550" dirty="0">
                <a:solidFill>
                  <a:srgbClr val="5A5A5A"/>
                </a:solidFill>
              </a:rPr>
              <a:t>계좌번호 입력</a:t>
            </a:r>
          </a:p>
        </p:txBody>
      </p:sp>
      <p:sp>
        <p:nvSpPr>
          <p:cNvPr id="60" name="Mock 61"/>
          <p:cNvSpPr/>
          <p:nvPr/>
        </p:nvSpPr>
        <p:spPr>
          <a:xfrm>
            <a:off x="6324600" y="3657600"/>
            <a:ext cx="1524000" cy="218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61" name="Mock 62"/>
          <p:cNvSpPr/>
          <p:nvPr/>
        </p:nvSpPr>
        <p:spPr>
          <a:xfrm>
            <a:off x="7670800" y="372110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>✕</a:t>
            </a:r>
          </a:p>
        </p:txBody>
      </p:sp>
      <p:sp>
        <p:nvSpPr>
          <p:cNvPr id="62" name="Mock 63"/>
          <p:cNvSpPr/>
          <p:nvPr/>
        </p:nvSpPr>
        <p:spPr>
          <a:xfrm>
            <a:off x="6921500" y="3784600"/>
            <a:ext cx="330200" cy="330200"/>
          </a:xfrm>
          <a:prstGeom prst="ellipse">
            <a:avLst/>
          </a:prstGeom>
          <a:gradFill>
            <a:gsLst>
              <a:gs pos="0">
                <a:srgbClr val="8BE07A"/>
              </a:gs>
              <a:gs pos="100000">
                <a:srgbClr val="3BA7E5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63" name="Mock 64"/>
          <p:cNvSpPr/>
          <p:nvPr/>
        </p:nvSpPr>
        <p:spPr>
          <a:xfrm>
            <a:off x="6997700" y="3860800"/>
            <a:ext cx="177800" cy="17780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64" name="Mock 65"/>
          <p:cNvSpPr/>
          <p:nvPr/>
        </p:nvSpPr>
        <p:spPr>
          <a:xfrm>
            <a:off x="7150100" y="4025900"/>
            <a:ext cx="228600" cy="1016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450" b="1" dirty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65" name="Mock 66"/>
          <p:cNvSpPr/>
          <p:nvPr/>
        </p:nvSpPr>
        <p:spPr>
          <a:xfrm>
            <a:off x="6375400" y="41910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AI가 음성을 분석해</a:t>
            </a:r>
          </a:p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은행명과 계좌번호를 추출해요</a:t>
            </a:r>
          </a:p>
        </p:txBody>
      </p:sp>
      <p:sp>
        <p:nvSpPr>
          <p:cNvPr id="66" name="Mock 67"/>
          <p:cNvSpPr/>
          <p:nvPr/>
        </p:nvSpPr>
        <p:spPr>
          <a:xfrm>
            <a:off x="6413500" y="45720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67" name="Mock 68"/>
          <p:cNvSpPr/>
          <p:nvPr/>
        </p:nvSpPr>
        <p:spPr>
          <a:xfrm>
            <a:off x="6464300" y="4622800"/>
            <a:ext cx="101600" cy="101600"/>
          </a:xfrm>
          <a:prstGeom prst="ellipse">
            <a:avLst/>
          </a:prstGeom>
          <a:solidFill>
            <a:srgbClr val="2EC4A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68" name="Mock 69"/>
          <p:cNvSpPr/>
          <p:nvPr/>
        </p:nvSpPr>
        <p:spPr>
          <a:xfrm>
            <a:off x="6680200" y="45593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음성 인식 결과에 따라 일부 정보가 다를 수 있어요</a:t>
            </a:r>
          </a:p>
        </p:txBody>
      </p:sp>
      <p:sp>
        <p:nvSpPr>
          <p:cNvPr id="69" name="Mock 70"/>
          <p:cNvSpPr/>
          <p:nvPr/>
        </p:nvSpPr>
        <p:spPr>
          <a:xfrm>
            <a:off x="6413500" y="48514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70" name="Mock 71"/>
          <p:cNvSpPr/>
          <p:nvPr/>
        </p:nvSpPr>
        <p:spPr>
          <a:xfrm>
            <a:off x="6464300" y="4902200"/>
            <a:ext cx="101600" cy="101600"/>
          </a:xfrm>
          <a:prstGeom prst="ellipse">
            <a:avLst/>
          </a:prstGeom>
          <a:solidFill>
            <a:srgbClr val="5B6FE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71" name="Mock 72"/>
          <p:cNvSpPr/>
          <p:nvPr/>
        </p:nvSpPr>
        <p:spPr>
          <a:xfrm>
            <a:off x="6680200" y="48387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추출된 정보는 이체 화면에서 반드시 확인 후 이체해 주세요</a:t>
            </a:r>
          </a:p>
        </p:txBody>
      </p:sp>
      <p:sp>
        <p:nvSpPr>
          <p:cNvPr id="72" name="Mock 73"/>
          <p:cNvSpPr/>
          <p:nvPr/>
        </p:nvSpPr>
        <p:spPr>
          <a:xfrm>
            <a:off x="6426200" y="5156200"/>
            <a:ext cx="101600" cy="10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73" name="Mock 74"/>
          <p:cNvSpPr/>
          <p:nvPr/>
        </p:nvSpPr>
        <p:spPr>
          <a:xfrm>
            <a:off x="6578600" y="5143500"/>
            <a:ext cx="11938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dirty="0">
                <a:solidFill>
                  <a:srgbClr val="1A1A1A"/>
                </a:solidFill>
              </a:rPr>
              <a:t>AI 활용 안내 그만 보기</a:t>
            </a:r>
          </a:p>
        </p:txBody>
      </p:sp>
      <p:sp>
        <p:nvSpPr>
          <p:cNvPr id="74" name="Mock 75"/>
          <p:cNvSpPr/>
          <p:nvPr/>
        </p:nvSpPr>
        <p:spPr>
          <a:xfrm>
            <a:off x="6400800" y="5435600"/>
            <a:ext cx="1371600" cy="254000"/>
          </a:xfrm>
          <a:prstGeom prst="roundRect">
            <a:avLst>
              <a:gd name="adj" fmla="val 22000"/>
            </a:avLst>
          </a:prstGeom>
          <a:solidFill>
            <a:srgbClr val="14A38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</a:rPr>
              <a:t>사용해보기</a:t>
            </a:r>
          </a:p>
        </p:txBody>
      </p:sp>
      <p:cxnSp>
        <p:nvCxnSpPr>
          <p:cNvPr id="75" name="Arrow 76"/>
          <p:cNvCxnSpPr/>
          <p:nvPr/>
        </p:nvCxnSpPr>
        <p:spPr>
          <a:xfrm>
            <a:off x="5943600" y="4152900"/>
            <a:ext cx="304800" cy="0"/>
          </a:xfrm>
          <a:prstGeom prst="straightConnector1">
            <a:avLst/>
          </a:prstGeom>
          <a:ln w="15875">
            <a:solidFill>
              <a:srgbClr val="F05A28"/>
            </a:solidFill>
            <a:tailEnd type="triangle"/>
          </a:ln>
        </p:spPr>
      </p:cxnSp>
      <p:sp>
        <p:nvSpPr>
          <p:cNvPr id="76" name="Mock 77"/>
          <p:cNvSpPr/>
          <p:nvPr/>
        </p:nvSpPr>
        <p:spPr>
          <a:xfrm>
            <a:off x="4216400" y="5943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dirty="0">
                <a:solidFill>
                  <a:srgbClr val="595959"/>
                </a:solidFill>
              </a:rPr>
              <a:t>① 약관 동의</a:t>
            </a:r>
          </a:p>
        </p:txBody>
      </p:sp>
      <p:sp>
        <p:nvSpPr>
          <p:cNvPr id="77" name="Mock 78"/>
          <p:cNvSpPr/>
          <p:nvPr/>
        </p:nvSpPr>
        <p:spPr>
          <a:xfrm>
            <a:off x="6197600" y="5943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dirty="0">
                <a:solidFill>
                  <a:srgbClr val="595959"/>
                </a:solidFill>
              </a:rPr>
              <a:t>② AI 활용 안내 팝업</a:t>
            </a:r>
          </a:p>
        </p:txBody>
      </p:sp>
      <p:sp>
        <p:nvSpPr>
          <p:cNvPr id="78" name="Mock 79"/>
          <p:cNvSpPr/>
          <p:nvPr/>
        </p:nvSpPr>
        <p:spPr>
          <a:xfrm>
            <a:off x="8178800" y="1397000"/>
            <a:ext cx="3556000" cy="4318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1A1A1A"/>
                </a:solidFill>
              </a:rPr>
              <a:t>시나리오 3  ·  신규 약관 + 팝업</a:t>
            </a:r>
          </a:p>
        </p:txBody>
      </p:sp>
      <p:sp>
        <p:nvSpPr>
          <p:cNvPr id="79" name="Mock 80"/>
          <p:cNvSpPr/>
          <p:nvPr/>
        </p:nvSpPr>
        <p:spPr>
          <a:xfrm>
            <a:off x="8178800" y="1905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</a:rPr>
              <a:t>iM ZERO 약관·동의서 개정 후 적용</a:t>
            </a:r>
          </a:p>
        </p:txBody>
      </p:sp>
      <p:sp>
        <p:nvSpPr>
          <p:cNvPr id="80" name="Mock 81"/>
          <p:cNvSpPr/>
          <p:nvPr/>
        </p:nvSpPr>
        <p:spPr>
          <a:xfrm>
            <a:off x="8178800" y="2438400"/>
            <a:ext cx="15748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81" name="Mock 82"/>
          <p:cNvSpPr/>
          <p:nvPr/>
        </p:nvSpPr>
        <p:spPr>
          <a:xfrm>
            <a:off x="8280400" y="2501900"/>
            <a:ext cx="508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550" b="1" dirty="0">
                <a:solidFill>
                  <a:srgbClr val="1A1A1A"/>
                </a:solidFill>
              </a:rPr>
              <a:t>11:16</a:t>
            </a:r>
          </a:p>
        </p:txBody>
      </p:sp>
      <p:sp>
        <p:nvSpPr>
          <p:cNvPr id="82" name="Mock 83"/>
          <p:cNvSpPr/>
          <p:nvPr/>
        </p:nvSpPr>
        <p:spPr>
          <a:xfrm>
            <a:off x="8280400" y="269240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750" b="1" dirty="0">
                <a:solidFill>
                  <a:srgbClr val="1A1A1A"/>
                </a:solidFill>
              </a:rPr>
              <a:t>‹  약관 동의</a:t>
            </a:r>
          </a:p>
        </p:txBody>
      </p:sp>
      <p:sp>
        <p:nvSpPr>
          <p:cNvPr id="83" name="Mock 84"/>
          <p:cNvSpPr/>
          <p:nvPr/>
        </p:nvSpPr>
        <p:spPr>
          <a:xfrm>
            <a:off x="8280400" y="2946400"/>
            <a:ext cx="1371600" cy="152400"/>
          </a:xfrm>
          <a:prstGeom prst="roundRect">
            <a:avLst>
              <a:gd name="adj" fmla="val 50000"/>
            </a:avLst>
          </a:prstGeom>
          <a:solidFill>
            <a:srgbClr val="FCE4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550" b="1" dirty="0">
                <a:solidFill>
                  <a:srgbClr val="C0451A"/>
                </a:solidFill>
              </a:rPr>
              <a:t>개정 약관 </a:t>
            </a:r>
            <a:r>
              <a:rPr lang="en-US" altLang="ko-KR" sz="550" b="1" dirty="0">
                <a:solidFill>
                  <a:srgbClr val="C0451A"/>
                </a:solidFill>
              </a:rPr>
              <a:t>(</a:t>
            </a:r>
            <a:r>
              <a:rPr lang="ko-KR" altLang="en-US" sz="550" b="1" dirty="0">
                <a:solidFill>
                  <a:srgbClr val="C0451A"/>
                </a:solidFill>
              </a:rPr>
              <a:t>예시</a:t>
            </a:r>
            <a:r>
              <a:rPr lang="en-US" altLang="ko-KR" sz="550" b="1" dirty="0">
                <a:solidFill>
                  <a:srgbClr val="C0451A"/>
                </a:solidFill>
              </a:rPr>
              <a:t>)</a:t>
            </a:r>
            <a:endParaRPr lang="ko-KR" altLang="en-US" sz="550" b="1" dirty="0">
              <a:solidFill>
                <a:srgbClr val="C0451A"/>
              </a:solidFill>
            </a:endParaRPr>
          </a:p>
        </p:txBody>
      </p:sp>
      <p:sp>
        <p:nvSpPr>
          <p:cNvPr id="84" name="Mock 85"/>
          <p:cNvSpPr/>
          <p:nvPr/>
        </p:nvSpPr>
        <p:spPr>
          <a:xfrm>
            <a:off x="8280400" y="3175000"/>
            <a:ext cx="137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650" b="1" dirty="0">
                <a:solidFill>
                  <a:srgbClr val="1A1A1A"/>
                </a:solidFill>
              </a:rPr>
              <a:t>iM ZERO AI 기본 서비스</a:t>
            </a:r>
          </a:p>
          <a:p>
            <a:pPr algn="l"/>
            <a:r>
              <a:rPr lang="ko-KR" altLang="en-US" sz="650" b="1" dirty="0">
                <a:solidFill>
                  <a:srgbClr val="1A1A1A"/>
                </a:solidFill>
              </a:rPr>
              <a:t>이용 약관</a:t>
            </a:r>
          </a:p>
        </p:txBody>
      </p:sp>
      <p:sp>
        <p:nvSpPr>
          <p:cNvPr id="85" name="Mock 86"/>
          <p:cNvSpPr/>
          <p:nvPr/>
        </p:nvSpPr>
        <p:spPr>
          <a:xfrm>
            <a:off x="8280400" y="3530600"/>
            <a:ext cx="1270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86" name="Mock 87"/>
          <p:cNvSpPr/>
          <p:nvPr/>
        </p:nvSpPr>
        <p:spPr>
          <a:xfrm>
            <a:off x="8280400" y="3632200"/>
            <a:ext cx="11684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87" name="Mock 88"/>
          <p:cNvSpPr/>
          <p:nvPr/>
        </p:nvSpPr>
        <p:spPr>
          <a:xfrm>
            <a:off x="8280400" y="3733800"/>
            <a:ext cx="13208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88" name="Mock 89"/>
          <p:cNvSpPr/>
          <p:nvPr/>
        </p:nvSpPr>
        <p:spPr>
          <a:xfrm>
            <a:off x="8280400" y="3835400"/>
            <a:ext cx="10922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89" name="Mock 90"/>
          <p:cNvSpPr/>
          <p:nvPr/>
        </p:nvSpPr>
        <p:spPr>
          <a:xfrm>
            <a:off x="8280400" y="3937000"/>
            <a:ext cx="1270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0" name="Mock 91"/>
          <p:cNvSpPr/>
          <p:nvPr/>
        </p:nvSpPr>
        <p:spPr>
          <a:xfrm>
            <a:off x="8280400" y="4038600"/>
            <a:ext cx="12192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1" name="Mock 92"/>
          <p:cNvSpPr/>
          <p:nvPr/>
        </p:nvSpPr>
        <p:spPr>
          <a:xfrm>
            <a:off x="8280400" y="4140200"/>
            <a:ext cx="889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2" name="Mock 93"/>
          <p:cNvSpPr/>
          <p:nvPr/>
        </p:nvSpPr>
        <p:spPr>
          <a:xfrm>
            <a:off x="8280400" y="4241800"/>
            <a:ext cx="12954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3" name="Mock 94"/>
          <p:cNvSpPr/>
          <p:nvPr/>
        </p:nvSpPr>
        <p:spPr>
          <a:xfrm>
            <a:off x="8280400" y="4343400"/>
            <a:ext cx="1143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4" name="Mock 95"/>
          <p:cNvSpPr/>
          <p:nvPr/>
        </p:nvSpPr>
        <p:spPr>
          <a:xfrm>
            <a:off x="8280400" y="4445000"/>
            <a:ext cx="12446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5" name="Mock 96"/>
          <p:cNvSpPr/>
          <p:nvPr/>
        </p:nvSpPr>
        <p:spPr>
          <a:xfrm>
            <a:off x="8280400" y="4546600"/>
            <a:ext cx="10668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6" name="Mock 97"/>
          <p:cNvSpPr/>
          <p:nvPr/>
        </p:nvSpPr>
        <p:spPr>
          <a:xfrm>
            <a:off x="8280400" y="4648200"/>
            <a:ext cx="762000" cy="38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97" name="Mock 98"/>
          <p:cNvSpPr/>
          <p:nvPr/>
        </p:nvSpPr>
        <p:spPr>
          <a:xfrm>
            <a:off x="8242300" y="4025900"/>
            <a:ext cx="1447800" cy="381000"/>
          </a:xfrm>
          <a:prstGeom prst="roundRect">
            <a:avLst>
              <a:gd name="adj" fmla="val 10000"/>
            </a:avLst>
          </a:prstGeom>
          <a:solidFill>
            <a:srgbClr val="FFF4EE"/>
          </a:solidFill>
          <a:ln w="9525">
            <a:solidFill>
              <a:srgbClr val="F05A28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98" name="Mock 99"/>
          <p:cNvSpPr/>
          <p:nvPr/>
        </p:nvSpPr>
        <p:spPr>
          <a:xfrm>
            <a:off x="8293100" y="4064000"/>
            <a:ext cx="1346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b="1" dirty="0">
                <a:solidFill>
                  <a:srgbClr val="C0451A"/>
                </a:solidFill>
              </a:rPr>
              <a:t>제3조 서비스 종류</a:t>
            </a:r>
            <a:br>
              <a:rPr lang="en-US" altLang="ko-KR" sz="580" b="1" dirty="0">
                <a:solidFill>
                  <a:srgbClr val="C0451A"/>
                </a:solidFill>
              </a:rPr>
            </a:br>
            <a:r>
              <a:rPr lang="ko-KR" altLang="en-US" sz="580" b="1" dirty="0">
                <a:solidFill>
                  <a:srgbClr val="C0451A"/>
                </a:solidFill>
              </a:rPr>
              <a:t>개정</a:t>
            </a:r>
          </a:p>
        </p:txBody>
      </p:sp>
      <p:sp>
        <p:nvSpPr>
          <p:cNvPr id="99" name="Mock 100"/>
          <p:cNvSpPr/>
          <p:nvPr/>
        </p:nvSpPr>
        <p:spPr>
          <a:xfrm>
            <a:off x="8305800" y="5130800"/>
            <a:ext cx="101600" cy="101600"/>
          </a:xfrm>
          <a:prstGeom prst="roundRect">
            <a:avLst>
              <a:gd name="adj" fmla="val 15000"/>
            </a:avLst>
          </a:prstGeom>
          <a:solidFill>
            <a:srgbClr val="14A38B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00" name="Mock 101"/>
          <p:cNvSpPr/>
          <p:nvPr/>
        </p:nvSpPr>
        <p:spPr>
          <a:xfrm>
            <a:off x="8458200" y="5118100"/>
            <a:ext cx="11938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dirty="0">
                <a:solidFill>
                  <a:srgbClr val="1A1A1A"/>
                </a:solidFill>
              </a:rPr>
              <a:t>[필수] 약관 및 동의서 동의</a:t>
            </a:r>
          </a:p>
        </p:txBody>
      </p:sp>
      <p:sp>
        <p:nvSpPr>
          <p:cNvPr id="101" name="Mock 102"/>
          <p:cNvSpPr/>
          <p:nvPr/>
        </p:nvSpPr>
        <p:spPr>
          <a:xfrm>
            <a:off x="8280400" y="5435600"/>
            <a:ext cx="1371600" cy="254000"/>
          </a:xfrm>
          <a:prstGeom prst="roundRect">
            <a:avLst>
              <a:gd name="adj" fmla="val 22000"/>
            </a:avLst>
          </a:prstGeom>
          <a:solidFill>
            <a:srgbClr val="14A38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</a:rPr>
              <a:t>동의하고 계속</a:t>
            </a:r>
          </a:p>
        </p:txBody>
      </p:sp>
      <p:sp>
        <p:nvSpPr>
          <p:cNvPr id="102" name="Mock 103"/>
          <p:cNvSpPr/>
          <p:nvPr/>
        </p:nvSpPr>
        <p:spPr>
          <a:xfrm>
            <a:off x="10160000" y="2438400"/>
            <a:ext cx="15748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103" name="Mock 104"/>
          <p:cNvSpPr/>
          <p:nvPr/>
        </p:nvSpPr>
        <p:spPr>
          <a:xfrm>
            <a:off x="10261600" y="2501900"/>
            <a:ext cx="5080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550" b="1" dirty="0">
                <a:solidFill>
                  <a:srgbClr val="1A1A1A"/>
                </a:solidFill>
              </a:rPr>
              <a:t>11:16</a:t>
            </a:r>
          </a:p>
        </p:txBody>
      </p:sp>
      <p:sp>
        <p:nvSpPr>
          <p:cNvPr id="104" name="Mock 105"/>
          <p:cNvSpPr/>
          <p:nvPr/>
        </p:nvSpPr>
        <p:spPr>
          <a:xfrm>
            <a:off x="10185400" y="2641600"/>
            <a:ext cx="1524000" cy="1219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05" name="Mock 106"/>
          <p:cNvSpPr/>
          <p:nvPr/>
        </p:nvSpPr>
        <p:spPr>
          <a:xfrm>
            <a:off x="10261600" y="274320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rgbClr val="2B2B2B"/>
                </a:solidFill>
              </a:rPr>
              <a:t>누구에게 보낼까요?</a:t>
            </a:r>
          </a:p>
        </p:txBody>
      </p:sp>
      <p:sp>
        <p:nvSpPr>
          <p:cNvPr id="106" name="Mock 107"/>
          <p:cNvSpPr/>
          <p:nvPr/>
        </p:nvSpPr>
        <p:spPr>
          <a:xfrm>
            <a:off x="10261600" y="2971800"/>
            <a:ext cx="1371600" cy="203200"/>
          </a:xfrm>
          <a:prstGeom prst="roundRect">
            <a:avLst>
              <a:gd name="adj" fmla="val 30000"/>
            </a:avLst>
          </a:prstGeom>
          <a:solidFill>
            <a:srgbClr val="A8A8A8"/>
          </a:solidFill>
          <a:ln w="9525">
            <a:solidFill>
              <a:srgbClr val="8A8A8A"/>
            </a:solidFill>
          </a:ln>
        </p:spPr>
        <p:txBody>
          <a:bodyPr wrap="square" lIns="63500" tIns="0" rIns="63500" bIns="0" anchor="ctr">
            <a:noAutofit/>
          </a:bodyPr>
          <a:lstStyle/>
          <a:p>
            <a:pPr algn="l"/>
            <a:r>
              <a:rPr lang="ko-KR" altLang="en-US" sz="550" dirty="0">
                <a:solidFill>
                  <a:srgbClr val="5A5A5A"/>
                </a:solidFill>
              </a:rPr>
              <a:t>계좌번호 입력</a:t>
            </a:r>
          </a:p>
        </p:txBody>
      </p:sp>
      <p:sp>
        <p:nvSpPr>
          <p:cNvPr id="107" name="Mock 108"/>
          <p:cNvSpPr/>
          <p:nvPr/>
        </p:nvSpPr>
        <p:spPr>
          <a:xfrm>
            <a:off x="10185400" y="3657600"/>
            <a:ext cx="1524000" cy="218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08" name="Mock 109"/>
          <p:cNvSpPr/>
          <p:nvPr/>
        </p:nvSpPr>
        <p:spPr>
          <a:xfrm>
            <a:off x="11531600" y="3721100"/>
            <a:ext cx="1143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>✕</a:t>
            </a:r>
          </a:p>
        </p:txBody>
      </p:sp>
      <p:sp>
        <p:nvSpPr>
          <p:cNvPr id="109" name="Mock 110"/>
          <p:cNvSpPr/>
          <p:nvPr/>
        </p:nvSpPr>
        <p:spPr>
          <a:xfrm>
            <a:off x="10782300" y="3784600"/>
            <a:ext cx="330200" cy="330200"/>
          </a:xfrm>
          <a:prstGeom prst="ellipse">
            <a:avLst/>
          </a:prstGeom>
          <a:gradFill>
            <a:gsLst>
              <a:gs pos="0">
                <a:srgbClr val="8BE07A"/>
              </a:gs>
              <a:gs pos="100000">
                <a:srgbClr val="3BA7E5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0" name="Mock 111"/>
          <p:cNvSpPr/>
          <p:nvPr/>
        </p:nvSpPr>
        <p:spPr>
          <a:xfrm>
            <a:off x="10858500" y="3860800"/>
            <a:ext cx="177800" cy="17780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1" name="Mock 112"/>
          <p:cNvSpPr/>
          <p:nvPr/>
        </p:nvSpPr>
        <p:spPr>
          <a:xfrm>
            <a:off x="11010900" y="4025900"/>
            <a:ext cx="228600" cy="1016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450" b="1" dirty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12" name="Mock 113"/>
          <p:cNvSpPr/>
          <p:nvPr/>
        </p:nvSpPr>
        <p:spPr>
          <a:xfrm>
            <a:off x="10236200" y="41910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AI가 음성을 분석해</a:t>
            </a:r>
          </a:p>
          <a:p>
            <a:pPr algn="ctr"/>
            <a:r>
              <a:rPr lang="ko-KR" altLang="en-US" sz="750" b="1" dirty="0">
                <a:solidFill>
                  <a:srgbClr val="1A1A1A"/>
                </a:solidFill>
              </a:rPr>
              <a:t>은행명과 계좌번호를 추출해요</a:t>
            </a:r>
          </a:p>
        </p:txBody>
      </p:sp>
      <p:sp>
        <p:nvSpPr>
          <p:cNvPr id="113" name="Mock 114"/>
          <p:cNvSpPr/>
          <p:nvPr/>
        </p:nvSpPr>
        <p:spPr>
          <a:xfrm>
            <a:off x="10274300" y="45720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4" name="Mock 115"/>
          <p:cNvSpPr/>
          <p:nvPr/>
        </p:nvSpPr>
        <p:spPr>
          <a:xfrm>
            <a:off x="10325100" y="4622800"/>
            <a:ext cx="101600" cy="101600"/>
          </a:xfrm>
          <a:prstGeom prst="ellipse">
            <a:avLst/>
          </a:prstGeom>
          <a:solidFill>
            <a:srgbClr val="2EC4A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5" name="Mock 116"/>
          <p:cNvSpPr/>
          <p:nvPr/>
        </p:nvSpPr>
        <p:spPr>
          <a:xfrm>
            <a:off x="10541000" y="45593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음성 인식 결과에 따라 일부 정보가 다를 수 있어요</a:t>
            </a:r>
          </a:p>
        </p:txBody>
      </p:sp>
      <p:sp>
        <p:nvSpPr>
          <p:cNvPr id="116" name="Mock 117"/>
          <p:cNvSpPr/>
          <p:nvPr/>
        </p:nvSpPr>
        <p:spPr>
          <a:xfrm>
            <a:off x="10274300" y="4851400"/>
            <a:ext cx="203200" cy="203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7" name="Mock 118"/>
          <p:cNvSpPr/>
          <p:nvPr/>
        </p:nvSpPr>
        <p:spPr>
          <a:xfrm>
            <a:off x="10325100" y="4902200"/>
            <a:ext cx="101600" cy="101600"/>
          </a:xfrm>
          <a:prstGeom prst="ellipse">
            <a:avLst/>
          </a:prstGeom>
          <a:solidFill>
            <a:srgbClr val="5B6FE0"/>
          </a:solidFill>
          <a:ln>
            <a:noFill/>
          </a:ln>
        </p:spPr>
        <p:txBody>
          <a:bodyPr/>
          <a:lstStyle/>
          <a:p>
            <a:endParaRPr lang="ko-KR" sz="800"/>
          </a:p>
        </p:txBody>
      </p:sp>
      <p:sp>
        <p:nvSpPr>
          <p:cNvPr id="118" name="Mock 119"/>
          <p:cNvSpPr/>
          <p:nvPr/>
        </p:nvSpPr>
        <p:spPr>
          <a:xfrm>
            <a:off x="10541000" y="4838700"/>
            <a:ext cx="10922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30" dirty="0">
                <a:solidFill>
                  <a:srgbClr val="6B6B6B"/>
                </a:solidFill>
              </a:rPr>
              <a:t>추출된 정보는 이체 화면에서 반드시 확인 후 이체해 주세요</a:t>
            </a:r>
          </a:p>
        </p:txBody>
      </p:sp>
      <p:sp>
        <p:nvSpPr>
          <p:cNvPr id="119" name="Mock 120"/>
          <p:cNvSpPr/>
          <p:nvPr/>
        </p:nvSpPr>
        <p:spPr>
          <a:xfrm>
            <a:off x="10287000" y="5156200"/>
            <a:ext cx="101600" cy="10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lstStyle/>
          <a:p>
            <a:endParaRPr lang="ko-KR" sz="800"/>
          </a:p>
        </p:txBody>
      </p:sp>
      <p:sp>
        <p:nvSpPr>
          <p:cNvPr id="120" name="Mock 121"/>
          <p:cNvSpPr/>
          <p:nvPr/>
        </p:nvSpPr>
        <p:spPr>
          <a:xfrm>
            <a:off x="10439400" y="5143500"/>
            <a:ext cx="11938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580" dirty="0">
                <a:solidFill>
                  <a:srgbClr val="1A1A1A"/>
                </a:solidFill>
              </a:rPr>
              <a:t>AI 활용 안내 그만 보기</a:t>
            </a:r>
          </a:p>
        </p:txBody>
      </p:sp>
      <p:sp>
        <p:nvSpPr>
          <p:cNvPr id="121" name="Mock 122"/>
          <p:cNvSpPr/>
          <p:nvPr/>
        </p:nvSpPr>
        <p:spPr>
          <a:xfrm>
            <a:off x="10261600" y="5435600"/>
            <a:ext cx="1371600" cy="254000"/>
          </a:xfrm>
          <a:prstGeom prst="roundRect">
            <a:avLst>
              <a:gd name="adj" fmla="val 22000"/>
            </a:avLst>
          </a:prstGeom>
          <a:solidFill>
            <a:srgbClr val="14A38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</a:rPr>
              <a:t>사용해보기</a:t>
            </a:r>
          </a:p>
        </p:txBody>
      </p:sp>
      <p:cxnSp>
        <p:nvCxnSpPr>
          <p:cNvPr id="122" name="Arrow 123"/>
          <p:cNvCxnSpPr/>
          <p:nvPr/>
        </p:nvCxnSpPr>
        <p:spPr>
          <a:xfrm>
            <a:off x="9804400" y="4152900"/>
            <a:ext cx="304800" cy="0"/>
          </a:xfrm>
          <a:prstGeom prst="straightConnector1">
            <a:avLst/>
          </a:prstGeom>
          <a:ln w="15875">
            <a:solidFill>
              <a:srgbClr val="F05A28"/>
            </a:solidFill>
            <a:tailEnd type="triangle"/>
          </a:ln>
        </p:spPr>
      </p:cxnSp>
      <p:sp>
        <p:nvSpPr>
          <p:cNvPr id="123" name="Mock 124"/>
          <p:cNvSpPr/>
          <p:nvPr/>
        </p:nvSpPr>
        <p:spPr>
          <a:xfrm>
            <a:off x="8077200" y="5943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dirty="0">
                <a:solidFill>
                  <a:srgbClr val="595959"/>
                </a:solidFill>
              </a:rPr>
              <a:t>① 약관 동의</a:t>
            </a:r>
          </a:p>
        </p:txBody>
      </p:sp>
      <p:sp>
        <p:nvSpPr>
          <p:cNvPr id="124" name="Mock 125"/>
          <p:cNvSpPr/>
          <p:nvPr/>
        </p:nvSpPr>
        <p:spPr>
          <a:xfrm>
            <a:off x="10058400" y="5943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00" dirty="0">
                <a:solidFill>
                  <a:srgbClr val="595959"/>
                </a:solidFill>
              </a:rPr>
              <a:t>② AI 활용 안내 팝업</a:t>
            </a:r>
          </a:p>
        </p:txBody>
      </p:sp>
      <p:sp>
        <p:nvSpPr>
          <p:cNvPr id="125" name="Mock 126"/>
          <p:cNvSpPr/>
          <p:nvPr/>
        </p:nvSpPr>
        <p:spPr>
          <a:xfrm>
            <a:off x="457200" y="63119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88900" tIns="0" rIns="88900" bIns="0" anchor="t">
            <a:noAutofit/>
          </a:bodyPr>
          <a:lstStyle/>
          <a:p>
            <a:pPr algn="l"/>
            <a:r>
              <a:rPr lang="ko-KR" altLang="en-US" sz="1100" dirty="0">
                <a:solidFill>
                  <a:srgbClr val="7F7F7F"/>
                </a:solidFill>
              </a:rPr>
              <a:t>※ 이해를 돕기 위한 예시 화면이며, 실제 화면과 다를 수 있음</a:t>
            </a:r>
          </a:p>
        </p:txBody>
      </p:sp>
      <p:sp>
        <p:nvSpPr>
          <p:cNvPr id="3" name="Section Header">
            <a:extLst>
              <a:ext uri="{FF2B5EF4-FFF2-40B4-BE49-F238E27FC236}">
                <a16:creationId xmlns:a16="http://schemas.microsoft.com/office/drawing/2014/main" id="{4823BBC7-4666-404C-9216-65C318C3581E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04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4" name="Section Header">
            <a:extLst>
              <a:ext uri="{FF2B5EF4-FFF2-40B4-BE49-F238E27FC236}">
                <a16:creationId xmlns:a16="http://schemas.microsoft.com/office/drawing/2014/main" id="{4A3C4FA0-6BC8-2145-A5CC-9997315C7C44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2200" b="1" dirty="0">
                <a:solidFill>
                  <a:srgbClr val="1A1A1A"/>
                </a:solidFill>
              </a:rPr>
              <a:t>AI </a:t>
            </a:r>
            <a:r>
              <a:rPr lang="ko-KR" altLang="en-US" sz="2200" b="1" dirty="0">
                <a:solidFill>
                  <a:srgbClr val="1A1A1A"/>
                </a:solidFill>
              </a:rPr>
              <a:t>이체 운영 시나리오 </a:t>
            </a:r>
            <a:r>
              <a:rPr lang="en-US" altLang="ko-KR" sz="2200" b="1" dirty="0">
                <a:solidFill>
                  <a:srgbClr val="1A1A1A"/>
                </a:solidFill>
              </a:rPr>
              <a:t>(3</a:t>
            </a:r>
            <a:r>
              <a:rPr lang="ko-KR" altLang="en-US" sz="2200" b="1" dirty="0">
                <a:solidFill>
                  <a:srgbClr val="1A1A1A"/>
                </a:solidFill>
              </a:rPr>
              <a:t>개</a:t>
            </a:r>
            <a:r>
              <a:rPr lang="en-US" altLang="ko-KR" sz="2200" b="1" dirty="0">
                <a:solidFill>
                  <a:srgbClr val="1A1A1A"/>
                </a:solidFill>
              </a:rPr>
              <a:t>)</a:t>
            </a:r>
            <a:endParaRPr lang="ko-KR" altLang="en-US" sz="2200" b="1" dirty="0">
              <a:solidFill>
                <a:srgbClr val="1A1A1A"/>
              </a:solidFill>
            </a:endParaRPr>
          </a:p>
        </p:txBody>
      </p:sp>
      <p:sp>
        <p:nvSpPr>
          <p:cNvPr id="6" name="Section Header Line">
            <a:extLst>
              <a:ext uri="{FF2B5EF4-FFF2-40B4-BE49-F238E27FC236}">
                <a16:creationId xmlns:a16="http://schemas.microsoft.com/office/drawing/2014/main" id="{7650C4A0-15CF-A748-ACA3-CB28F0F0A784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83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4F3149-32CD-B39B-9EED-082142714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787400"/>
            <a:ext cx="11836400" cy="4611665"/>
          </a:xfrm>
          <a:prstGeom prst="rect">
            <a:avLst/>
          </a:prstGeom>
        </p:spPr>
      </p:pic>
      <p:sp>
        <p:nvSpPr>
          <p:cNvPr id="9" name="액자 8">
            <a:extLst>
              <a:ext uri="{FF2B5EF4-FFF2-40B4-BE49-F238E27FC236}">
                <a16:creationId xmlns:a16="http://schemas.microsoft.com/office/drawing/2014/main" id="{3DBC377D-232B-6F49-A549-A3122418DDBB}"/>
              </a:ext>
            </a:extLst>
          </p:cNvPr>
          <p:cNvSpPr/>
          <p:nvPr/>
        </p:nvSpPr>
        <p:spPr>
          <a:xfrm>
            <a:off x="2119708" y="1168113"/>
            <a:ext cx="6349735" cy="3926972"/>
          </a:xfrm>
          <a:prstGeom prst="frame">
            <a:avLst>
              <a:gd name="adj1" fmla="val 3552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48306-049F-BF4D-B712-2301C3D3CCCD}"/>
              </a:ext>
            </a:extLst>
          </p:cNvPr>
          <p:cNvSpPr txBox="1"/>
          <p:nvPr/>
        </p:nvSpPr>
        <p:spPr>
          <a:xfrm>
            <a:off x="3821274" y="4833519"/>
            <a:ext cx="4064000" cy="627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내부 </a:t>
            </a:r>
            <a:r>
              <a:rPr lang="en-US" altLang="ko-KR" dirty="0"/>
              <a:t>LLM (</a:t>
            </a:r>
            <a:r>
              <a:rPr lang="en-US" altLang="ko-KR" dirty="0" err="1"/>
              <a:t>iM</a:t>
            </a:r>
            <a:r>
              <a:rPr lang="en-US" altLang="ko-KR" dirty="0"/>
              <a:t> GPT) </a:t>
            </a:r>
            <a:r>
              <a:rPr lang="ko-KR" altLang="en-US" dirty="0"/>
              <a:t>사용 구간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7CA5C9BA-CE75-9745-BF7D-362465A6970F}"/>
              </a:ext>
            </a:extLst>
          </p:cNvPr>
          <p:cNvSpPr txBox="1"/>
          <p:nvPr/>
        </p:nvSpPr>
        <p:spPr>
          <a:xfrm>
            <a:off x="457200" y="177800"/>
            <a:ext cx="6604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156082"/>
                </a:solidFill>
              </a:rPr>
              <a:t>05</a:t>
            </a:r>
            <a:endParaRPr lang="ko-KR" altLang="en-US" sz="2200" b="1">
              <a:solidFill>
                <a:srgbClr val="156082"/>
              </a:solidFill>
            </a:endParaRPr>
          </a:p>
        </p:txBody>
      </p:sp>
      <p:sp>
        <p:nvSpPr>
          <p:cNvPr id="3" name="Section Header">
            <a:extLst>
              <a:ext uri="{FF2B5EF4-FFF2-40B4-BE49-F238E27FC236}">
                <a16:creationId xmlns:a16="http://schemas.microsoft.com/office/drawing/2014/main" id="{9BFB8085-D900-E843-90F0-0EEA15551341}"/>
              </a:ext>
            </a:extLst>
          </p:cNvPr>
          <p:cNvSpPr txBox="1"/>
          <p:nvPr/>
        </p:nvSpPr>
        <p:spPr>
          <a:xfrm>
            <a:off x="1066800" y="177800"/>
            <a:ext cx="106680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1A1A1A"/>
                </a:solidFill>
              </a:rPr>
              <a:t>내부 </a:t>
            </a:r>
            <a:r>
              <a:rPr lang="en" altLang="ko-KR" sz="2200" b="1">
                <a:solidFill>
                  <a:srgbClr val="1A1A1A"/>
                </a:solidFill>
              </a:rPr>
              <a:t>LLM(iM GPT) </a:t>
            </a:r>
            <a:r>
              <a:rPr lang="ko-KR" altLang="en-US" sz="2200" b="1">
                <a:solidFill>
                  <a:srgbClr val="1A1A1A"/>
                </a:solidFill>
              </a:rPr>
              <a:t>사용 구간</a:t>
            </a:r>
          </a:p>
        </p:txBody>
      </p:sp>
      <p:sp>
        <p:nvSpPr>
          <p:cNvPr id="5" name="Section Header Line">
            <a:extLst>
              <a:ext uri="{FF2B5EF4-FFF2-40B4-BE49-F238E27FC236}">
                <a16:creationId xmlns:a16="http://schemas.microsoft.com/office/drawing/2014/main" id="{AC2FE2D0-3F9D-7D4A-ACCD-A8885DDBDA48}"/>
              </a:ext>
            </a:extLst>
          </p:cNvPr>
          <p:cNvSpPr/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64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71204C-4F40-094E-A0A7-00ADB470519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c4c8117-403d-4b0a-a948-6e180a6fd6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385</Words>
  <Application>Microsoft Macintosh PowerPoint</Application>
  <PresentationFormat>와이드스크린</PresentationFormat>
  <Paragraphs>91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희진 김</cp:lastModifiedBy>
  <cp:revision>3</cp:revision>
  <dcterms:created xsi:type="dcterms:W3CDTF">2026-10-19T09:31:55Z</dcterms:created>
  <dcterms:modified xsi:type="dcterms:W3CDTF">2026-10-21T00:48:42Z</dcterms:modified>
</cp:coreProperties>
</file>